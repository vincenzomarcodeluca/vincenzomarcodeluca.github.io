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82" r:id="rId7"/>
    <p:sldId id="284" r:id="rId8"/>
    <p:sldId id="285" r:id="rId9"/>
    <p:sldId id="264" r:id="rId10"/>
    <p:sldId id="286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Playfair Display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g+Cp/mUcbOOEeHHZl3TffokrlF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7194"/>
    <a:srgbClr val="00B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50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C377F4C-64FB-DA67-A9CA-E79361E0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>
            <a:extLst>
              <a:ext uri="{FF2B5EF4-FFF2-40B4-BE49-F238E27FC236}">
                <a16:creationId xmlns:a16="http://schemas.microsoft.com/office/drawing/2014/main" id="{B10EF749-3B9F-C769-B0B7-17328A5D6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6:notes">
            <a:extLst>
              <a:ext uri="{FF2B5EF4-FFF2-40B4-BE49-F238E27FC236}">
                <a16:creationId xmlns:a16="http://schemas.microsoft.com/office/drawing/2014/main" id="{662F0852-9FDE-699C-6222-009A3B86E6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975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5E3E43F-9DAE-229D-2B18-4C1225C7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>
            <a:extLst>
              <a:ext uri="{FF2B5EF4-FFF2-40B4-BE49-F238E27FC236}">
                <a16:creationId xmlns:a16="http://schemas.microsoft.com/office/drawing/2014/main" id="{A3E1D9C2-4868-2981-2344-2795EE623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>
            <a:extLst>
              <a:ext uri="{FF2B5EF4-FFF2-40B4-BE49-F238E27FC236}">
                <a16:creationId xmlns:a16="http://schemas.microsoft.com/office/drawing/2014/main" id="{71C56C26-2707-9AE8-49E7-780C23341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000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52F199A-58C0-A66E-5EC3-7620CB73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>
            <a:extLst>
              <a:ext uri="{FF2B5EF4-FFF2-40B4-BE49-F238E27FC236}">
                <a16:creationId xmlns:a16="http://schemas.microsoft.com/office/drawing/2014/main" id="{0CEDA29B-ADCB-314A-4E07-9AD09F639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7:notes">
            <a:extLst>
              <a:ext uri="{FF2B5EF4-FFF2-40B4-BE49-F238E27FC236}">
                <a16:creationId xmlns:a16="http://schemas.microsoft.com/office/drawing/2014/main" id="{E88B3662-0C06-EAF2-05F8-A959013DA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007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F90FBF4C-0363-A322-E1B7-034F1672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>
            <a:extLst>
              <a:ext uri="{FF2B5EF4-FFF2-40B4-BE49-F238E27FC236}">
                <a16:creationId xmlns:a16="http://schemas.microsoft.com/office/drawing/2014/main" id="{1E3BDC4E-46DF-8E72-38C0-F8F3401A9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>
            <a:extLst>
              <a:ext uri="{FF2B5EF4-FFF2-40B4-BE49-F238E27FC236}">
                <a16:creationId xmlns:a16="http://schemas.microsoft.com/office/drawing/2014/main" id="{2DBCF8EA-2E69-59E9-B5E2-8802969F5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16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1a4402e5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1a4402e5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xAI-Drop: Don’t Use What You Cannot Explain</a:t>
            </a:r>
            <a:endParaRPr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11700" y="2757925"/>
            <a:ext cx="7304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16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Vincenzo Marco De Luca</a:t>
            </a:r>
            <a:r>
              <a:rPr lang="it" sz="14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[1]</a:t>
            </a:r>
            <a:r>
              <a:rPr lang="it" sz="16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Antonio Longa</a:t>
            </a:r>
            <a:r>
              <a:rPr lang="it" sz="14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[1]</a:t>
            </a:r>
            <a:r>
              <a:rPr lang="it" sz="16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Pietro Liò</a:t>
            </a:r>
            <a:r>
              <a:rPr lang="it" sz="14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[2]</a:t>
            </a:r>
            <a:r>
              <a:rPr lang="it" sz="16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Andrea Passerini</a:t>
            </a:r>
            <a:r>
              <a:rPr lang="it" sz="14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[1]</a:t>
            </a:r>
            <a:endParaRPr sz="14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56" name="Google Shape;56;p1"/>
          <p:cNvCxnSpPr/>
          <p:nvPr/>
        </p:nvCxnSpPr>
        <p:spPr>
          <a:xfrm rot="10800000" flipH="1">
            <a:off x="381000" y="2705075"/>
            <a:ext cx="7696200" cy="57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57" name="Google Shape;57;p1"/>
          <p:cNvSpPr txBox="1"/>
          <p:nvPr/>
        </p:nvSpPr>
        <p:spPr>
          <a:xfrm>
            <a:off x="304800" y="3097225"/>
            <a:ext cx="7696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" sz="14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[1] University of Trento, [2] University of Cambridge</a:t>
            </a:r>
            <a:endParaRPr sz="14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7625" y="4178450"/>
            <a:ext cx="836375" cy="96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4900" y="4178450"/>
            <a:ext cx="965005" cy="9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ctrTitle"/>
          </p:nvPr>
        </p:nvSpPr>
        <p:spPr>
          <a:xfrm>
            <a:off x="311708" y="-1008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Who I am</a:t>
            </a:r>
            <a:endParaRPr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subTitle" idx="1"/>
          </p:nvPr>
        </p:nvSpPr>
        <p:spPr>
          <a:xfrm>
            <a:off x="533400" y="1122950"/>
            <a:ext cx="81972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Char char="●"/>
            </a:pPr>
            <a:r>
              <a:rPr lang="it" sz="22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Vincenzo Marco De Luca, 1st year PhD student</a:t>
            </a: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Char char="●"/>
            </a:pPr>
            <a:r>
              <a:rPr lang="it" sz="22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University of Trento</a:t>
            </a: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Char char="●"/>
            </a:pPr>
            <a:r>
              <a:rPr lang="it" sz="22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Involved in Tango Horizon EU and FAIR project</a:t>
            </a: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Char char="●"/>
            </a:pPr>
            <a:r>
              <a:rPr lang="it" sz="22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Graph Neural Networks for Human-Centric AI</a:t>
            </a: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Char char="●"/>
            </a:pPr>
            <a:r>
              <a:rPr lang="it" sz="220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Automated Team Analysis</a:t>
            </a:r>
            <a:endParaRPr sz="22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6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66" name="Google Shape;66;p2"/>
          <p:cNvCxnSpPr/>
          <p:nvPr/>
        </p:nvCxnSpPr>
        <p:spPr>
          <a:xfrm rot="10800000" flipH="1">
            <a:off x="381000" y="952475"/>
            <a:ext cx="7696200" cy="57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67" name="Google Shape;6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4012325"/>
            <a:ext cx="1228366" cy="6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3350" y="4012325"/>
            <a:ext cx="2188877" cy="65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ctrTitle"/>
          </p:nvPr>
        </p:nvSpPr>
        <p:spPr>
          <a:xfrm>
            <a:off x="311708" y="-1008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Index </a:t>
            </a:r>
            <a:endParaRPr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" name="Google Shape;75;p3"/>
          <p:cNvSpPr txBox="1">
            <a:spLocks noGrp="1"/>
          </p:cNvSpPr>
          <p:nvPr>
            <p:ph type="subTitle" idx="1"/>
          </p:nvPr>
        </p:nvSpPr>
        <p:spPr>
          <a:xfrm>
            <a:off x="500850" y="1122950"/>
            <a:ext cx="7304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AutoNum type="arabicPeriod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Motivation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endParaRPr lang="it"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 Dropping in GNNs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endParaRPr lang="it"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  xAI-Drop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endParaRPr lang="it"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  Results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5.    Further considerations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6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6" name="Google Shape;76;p3"/>
          <p:cNvCxnSpPr/>
          <p:nvPr/>
        </p:nvCxnSpPr>
        <p:spPr>
          <a:xfrm rot="10800000" flipH="1">
            <a:off x="381000" y="952475"/>
            <a:ext cx="7696200" cy="57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77" name="Google Shape;7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subTitle" idx="1"/>
          </p:nvPr>
        </p:nvSpPr>
        <p:spPr>
          <a:xfrm>
            <a:off x="294900" y="1404325"/>
            <a:ext cx="70143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  <a:buFont typeface="Playfair Display"/>
              <a:buAutoNum type="arabicPeriod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 generalization error 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  Attenuate oversmoothing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  Ensemble effect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889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1827"/>
              </a:buClr>
              <a:buSzPts val="2200"/>
            </a:pPr>
            <a:r>
              <a:rPr lang="it" sz="2200" dirty="0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   Augment data</a:t>
            </a:r>
            <a:endParaRPr sz="22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600" dirty="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3" name="Google Shape;8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Motivation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85" name="Google Shape;85;p4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86" name="Google Shape;86;p4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do we need to Drop?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03" name="Google Shape;103;p6"/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Random strategies</a:t>
            </a:r>
            <a:endParaRPr sz="600" b="1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" name="Picture 1" descr="A blue squares on a black background&#10;&#10;Description automatically generated">
            <a:extLst>
              <a:ext uri="{FF2B5EF4-FFF2-40B4-BE49-F238E27FC236}">
                <a16:creationId xmlns:a16="http://schemas.microsoft.com/office/drawing/2014/main" id="{784367F1-1FA5-5DAC-A557-EB3F4EA39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17639"/>
            <a:ext cx="7620000" cy="2125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A5CC6E-C7BA-7DE0-712D-D7110AAD2A71}"/>
              </a:ext>
            </a:extLst>
          </p:cNvPr>
          <p:cNvSpPr txBox="1"/>
          <p:nvPr/>
        </p:nvSpPr>
        <p:spPr>
          <a:xfrm>
            <a:off x="14208" y="4790150"/>
            <a:ext cx="8764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Fang, </a:t>
            </a:r>
            <a:r>
              <a:rPr lang="en-GB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Taoran</a:t>
            </a:r>
            <a:r>
              <a:rPr lang="en-GB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et al. "</a:t>
            </a:r>
            <a:r>
              <a:rPr lang="en-GB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Dropmessage</a:t>
            </a:r>
            <a:r>
              <a:rPr lang="en-GB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Unifying random dropping for graph neural networks." </a:t>
            </a:r>
            <a:r>
              <a:rPr lang="en-GB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AAAI Conference on Artificial Intelligence</a:t>
            </a:r>
            <a:r>
              <a:rPr lang="en-GB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Vol. 37. No. 4. 2023.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9">
          <a:extLst>
            <a:ext uri="{FF2B5EF4-FFF2-40B4-BE49-F238E27FC236}">
              <a16:creationId xmlns:a16="http://schemas.microsoft.com/office/drawing/2014/main" id="{E144DF90-96C8-BF7A-ADFF-1A5C9FCA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>
            <a:extLst>
              <a:ext uri="{FF2B5EF4-FFF2-40B4-BE49-F238E27FC236}">
                <a16:creationId xmlns:a16="http://schemas.microsoft.com/office/drawing/2014/main" id="{226206A2-DC5C-92AE-61C7-BDB840706D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  <p:sp>
        <p:nvSpPr>
          <p:cNvPr id="101" name="Google Shape;101;p6">
            <a:extLst>
              <a:ext uri="{FF2B5EF4-FFF2-40B4-BE49-F238E27FC236}">
                <a16:creationId xmlns:a16="http://schemas.microsoft.com/office/drawing/2014/main" id="{EFC623CA-06A0-7479-2BF2-A1323AAB39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02" name="Google Shape;102;p6">
            <a:extLst>
              <a:ext uri="{FF2B5EF4-FFF2-40B4-BE49-F238E27FC236}">
                <a16:creationId xmlns:a16="http://schemas.microsoft.com/office/drawing/2014/main" id="{EBDA0DE3-815A-1AFA-DBB3-3A149976FF78}"/>
              </a:ext>
            </a:extLst>
          </p:cNvPr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03" name="Google Shape;103;p6">
            <a:extLst>
              <a:ext uri="{FF2B5EF4-FFF2-40B4-BE49-F238E27FC236}">
                <a16:creationId xmlns:a16="http://schemas.microsoft.com/office/drawing/2014/main" id="{E33DAE29-337A-DD8D-B1B7-479718221719}"/>
              </a:ext>
            </a:extLst>
          </p:cNvPr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Random strategies</a:t>
            </a:r>
            <a:endParaRPr sz="600" b="1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4" name="Google Shape;104;p6">
            <a:extLst>
              <a:ext uri="{FF2B5EF4-FFF2-40B4-BE49-F238E27FC236}">
                <a16:creationId xmlns:a16="http://schemas.microsoft.com/office/drawing/2014/main" id="{A3E92F72-A785-7A33-0D5E-3A2DA557BF01}"/>
              </a:ext>
            </a:extLst>
          </p:cNvPr>
          <p:cNvSpPr txBox="1"/>
          <p:nvPr/>
        </p:nvSpPr>
        <p:spPr>
          <a:xfrm>
            <a:off x="762000" y="3561278"/>
            <a:ext cx="4267200" cy="43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Pros</a:t>
            </a:r>
            <a:endParaRPr sz="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>
            <a:extLst>
              <a:ext uri="{FF2B5EF4-FFF2-40B4-BE49-F238E27FC236}">
                <a16:creationId xmlns:a16="http://schemas.microsoft.com/office/drawing/2014/main" id="{3B48E261-D981-3BD1-4AF5-9F88AB813C19}"/>
              </a:ext>
            </a:extLst>
          </p:cNvPr>
          <p:cNvSpPr txBox="1"/>
          <p:nvPr/>
        </p:nvSpPr>
        <p:spPr>
          <a:xfrm>
            <a:off x="4191000" y="3539398"/>
            <a:ext cx="4117200" cy="481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>
            <a:extLst>
              <a:ext uri="{FF2B5EF4-FFF2-40B4-BE49-F238E27FC236}">
                <a16:creationId xmlns:a16="http://schemas.microsoft.com/office/drawing/2014/main" id="{AE7E7844-6E9D-E2B7-C32D-D6C49C756627}"/>
              </a:ext>
            </a:extLst>
          </p:cNvPr>
          <p:cNvSpPr txBox="1"/>
          <p:nvPr/>
        </p:nvSpPr>
        <p:spPr>
          <a:xfrm>
            <a:off x="772160" y="3927135"/>
            <a:ext cx="42672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Efficient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 generalization error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Mitigates oversmoothing 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7" name="Google Shape;107;p6">
            <a:extLst>
              <a:ext uri="{FF2B5EF4-FFF2-40B4-BE49-F238E27FC236}">
                <a16:creationId xmlns:a16="http://schemas.microsoft.com/office/drawing/2014/main" id="{88413E17-41AD-A5A0-1E67-2003626FCA44}"/>
              </a:ext>
            </a:extLst>
          </p:cNvPr>
          <p:cNvSpPr txBox="1"/>
          <p:nvPr/>
        </p:nvSpPr>
        <p:spPr>
          <a:xfrm>
            <a:off x="4126160" y="3927135"/>
            <a:ext cx="4267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 guidance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" name="Picture 1" descr="A blue squares on a black background&#10;&#10;Description automatically generated">
            <a:extLst>
              <a:ext uri="{FF2B5EF4-FFF2-40B4-BE49-F238E27FC236}">
                <a16:creationId xmlns:a16="http://schemas.microsoft.com/office/drawing/2014/main" id="{7BF98A59-C1AC-6EA8-3314-ABB9A7E3A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17639"/>
            <a:ext cx="7620000" cy="212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12">
          <a:extLst>
            <a:ext uri="{FF2B5EF4-FFF2-40B4-BE49-F238E27FC236}">
              <a16:creationId xmlns:a16="http://schemas.microsoft.com/office/drawing/2014/main" id="{D8A6D995-D06F-7D6B-5563-88AA7F8E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>
            <a:extLst>
              <a:ext uri="{FF2B5EF4-FFF2-40B4-BE49-F238E27FC236}">
                <a16:creationId xmlns:a16="http://schemas.microsoft.com/office/drawing/2014/main" id="{F8B04099-0F06-2903-60E8-45E8FBCBA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sp>
        <p:nvSpPr>
          <p:cNvPr id="114" name="Google Shape;114;p7">
            <a:extLst>
              <a:ext uri="{FF2B5EF4-FFF2-40B4-BE49-F238E27FC236}">
                <a16:creationId xmlns:a16="http://schemas.microsoft.com/office/drawing/2014/main" id="{0871E2B3-72CA-F64C-44B1-F58670C2AD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5" name="Google Shape;115;p7">
            <a:extLst>
              <a:ext uri="{FF2B5EF4-FFF2-40B4-BE49-F238E27FC236}">
                <a16:creationId xmlns:a16="http://schemas.microsoft.com/office/drawing/2014/main" id="{B739D518-7700-D1BD-F917-D9750EFA355C}"/>
              </a:ext>
            </a:extLst>
          </p:cNvPr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16" name="Google Shape;116;p7">
            <a:extLst>
              <a:ext uri="{FF2B5EF4-FFF2-40B4-BE49-F238E27FC236}">
                <a16:creationId xmlns:a16="http://schemas.microsoft.com/office/drawing/2014/main" id="{EED14FFE-B48D-8365-3134-93F4C92186E0}"/>
              </a:ext>
            </a:extLst>
          </p:cNvPr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Parametric strategies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" name="Picture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C118DE12-C979-68B7-F5C6-F42F386A0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89" y="1201676"/>
            <a:ext cx="8313421" cy="24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00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12">
          <a:extLst>
            <a:ext uri="{FF2B5EF4-FFF2-40B4-BE49-F238E27FC236}">
              <a16:creationId xmlns:a16="http://schemas.microsoft.com/office/drawing/2014/main" id="{0BCD4101-C2A0-D33A-37CD-5E5012A5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>
            <a:extLst>
              <a:ext uri="{FF2B5EF4-FFF2-40B4-BE49-F238E27FC236}">
                <a16:creationId xmlns:a16="http://schemas.microsoft.com/office/drawing/2014/main" id="{63304D6E-BA44-41D9-805E-56C6DB1959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  <p:sp>
        <p:nvSpPr>
          <p:cNvPr id="114" name="Google Shape;114;p7">
            <a:extLst>
              <a:ext uri="{FF2B5EF4-FFF2-40B4-BE49-F238E27FC236}">
                <a16:creationId xmlns:a16="http://schemas.microsoft.com/office/drawing/2014/main" id="{24047A05-FE95-8304-0849-4383770BE3F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15" name="Google Shape;115;p7">
            <a:extLst>
              <a:ext uri="{FF2B5EF4-FFF2-40B4-BE49-F238E27FC236}">
                <a16:creationId xmlns:a16="http://schemas.microsoft.com/office/drawing/2014/main" id="{9FF5B6FE-E074-ADAE-B959-9F0FA99BC78A}"/>
              </a:ext>
            </a:extLst>
          </p:cNvPr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16" name="Google Shape;116;p7">
            <a:extLst>
              <a:ext uri="{FF2B5EF4-FFF2-40B4-BE49-F238E27FC236}">
                <a16:creationId xmlns:a16="http://schemas.microsoft.com/office/drawing/2014/main" id="{C613515C-965C-E91C-424A-09049FC29389}"/>
              </a:ext>
            </a:extLst>
          </p:cNvPr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Parametric strategies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23;p8">
            <a:extLst>
              <a:ext uri="{FF2B5EF4-FFF2-40B4-BE49-F238E27FC236}">
                <a16:creationId xmlns:a16="http://schemas.microsoft.com/office/drawing/2014/main" id="{5C4BC77C-8AFA-333C-8C05-7A5FC4083730}"/>
              </a:ext>
            </a:extLst>
          </p:cNvPr>
          <p:cNvSpPr txBox="1"/>
          <p:nvPr/>
        </p:nvSpPr>
        <p:spPr>
          <a:xfrm>
            <a:off x="762000" y="346961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24;p8">
            <a:extLst>
              <a:ext uri="{FF2B5EF4-FFF2-40B4-BE49-F238E27FC236}">
                <a16:creationId xmlns:a16="http://schemas.microsoft.com/office/drawing/2014/main" id="{FC7C9313-1C17-ADD1-6BDC-FD95537D9460}"/>
              </a:ext>
            </a:extLst>
          </p:cNvPr>
          <p:cNvSpPr txBox="1"/>
          <p:nvPr/>
        </p:nvSpPr>
        <p:spPr>
          <a:xfrm>
            <a:off x="4191000" y="3469610"/>
            <a:ext cx="411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8">
            <a:extLst>
              <a:ext uri="{FF2B5EF4-FFF2-40B4-BE49-F238E27FC236}">
                <a16:creationId xmlns:a16="http://schemas.microsoft.com/office/drawing/2014/main" id="{4939577C-A9B0-B6CE-25DB-2D7FE167B25A}"/>
              </a:ext>
            </a:extLst>
          </p:cNvPr>
          <p:cNvSpPr txBox="1"/>
          <p:nvPr/>
        </p:nvSpPr>
        <p:spPr>
          <a:xfrm>
            <a:off x="762000" y="3901735"/>
            <a:ext cx="42672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b="0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Reduces Generalization error</a:t>
            </a:r>
            <a:endParaRPr sz="1600" b="0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Mitigates Oversmoothing</a:t>
            </a:r>
            <a:endParaRPr sz="1600" b="0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Google Shape;126;p8">
            <a:extLst>
              <a:ext uri="{FF2B5EF4-FFF2-40B4-BE49-F238E27FC236}">
                <a16:creationId xmlns:a16="http://schemas.microsoft.com/office/drawing/2014/main" id="{0F4E6AC2-C019-16F3-9814-E7F32EDD5E02}"/>
              </a:ext>
            </a:extLst>
          </p:cNvPr>
          <p:cNvSpPr txBox="1"/>
          <p:nvPr/>
        </p:nvSpPr>
        <p:spPr>
          <a:xfrm>
            <a:off x="4116000" y="3901735"/>
            <a:ext cx="42672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Time consuming</a:t>
            </a:r>
            <a:endParaRPr sz="1600" b="0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Many parameters to learn</a:t>
            </a:r>
            <a:endParaRPr sz="1600" b="0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" name="Picture 7" descr="A screenshot of a video game&#10;&#10;Description automatically generated">
            <a:extLst>
              <a:ext uri="{FF2B5EF4-FFF2-40B4-BE49-F238E27FC236}">
                <a16:creationId xmlns:a16="http://schemas.microsoft.com/office/drawing/2014/main" id="{4CAF6557-C447-2B1B-D14C-17C87089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89" y="1201676"/>
            <a:ext cx="8313421" cy="24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0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/>
        </p:nvSpPr>
        <p:spPr>
          <a:xfrm>
            <a:off x="15250" y="1246470"/>
            <a:ext cx="3030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EXPASS </a:t>
            </a:r>
            <a:endParaRPr sz="600" b="0" i="0" u="none" strike="noStrike" cap="none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2981700" y="1246470"/>
            <a:ext cx="3030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 </a:t>
            </a:r>
            <a:endParaRPr sz="600" b="0" i="0" u="none" strike="noStrike" cap="none" dirty="0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6113400" y="1238850"/>
            <a:ext cx="3030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ENGAGE </a:t>
            </a:r>
            <a:endParaRPr sz="600" b="0" i="0" u="none" strike="noStrike" cap="none" dirty="0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4775" y="2190111"/>
            <a:ext cx="2444450" cy="108039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2" name="Google Shape;1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44" name="Google Shape;144;p9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45" name="Google Shape;145;p9"/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xAI-Guided strategies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C2866-468E-842D-CB71-104E2CA84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50" y="1775335"/>
            <a:ext cx="1039999" cy="2121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95599F-E136-B73F-9A73-E73D16E93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6338" y="1721759"/>
            <a:ext cx="1104724" cy="280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5">
          <a:extLst>
            <a:ext uri="{FF2B5EF4-FFF2-40B4-BE49-F238E27FC236}">
              <a16:creationId xmlns:a16="http://schemas.microsoft.com/office/drawing/2014/main" id="{6EE34603-4A88-045F-298D-8CB9F118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>
            <a:extLst>
              <a:ext uri="{FF2B5EF4-FFF2-40B4-BE49-F238E27FC236}">
                <a16:creationId xmlns:a16="http://schemas.microsoft.com/office/drawing/2014/main" id="{EE95ED71-1DDB-52F3-1291-A0A0176DC2F0}"/>
              </a:ext>
            </a:extLst>
          </p:cNvPr>
          <p:cNvSpPr txBox="1"/>
          <p:nvPr/>
        </p:nvSpPr>
        <p:spPr>
          <a:xfrm>
            <a:off x="550511" y="1246470"/>
            <a:ext cx="3030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EXPASS </a:t>
            </a:r>
            <a:endParaRPr sz="600" b="0" i="0" u="none" strike="noStrike" cap="none" dirty="0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>
            <a:extLst>
              <a:ext uri="{FF2B5EF4-FFF2-40B4-BE49-F238E27FC236}">
                <a16:creationId xmlns:a16="http://schemas.microsoft.com/office/drawing/2014/main" id="{F6F33D68-C10A-0BE9-DF89-A58B39B037A2}"/>
              </a:ext>
            </a:extLst>
          </p:cNvPr>
          <p:cNvSpPr txBox="1"/>
          <p:nvPr/>
        </p:nvSpPr>
        <p:spPr>
          <a:xfrm>
            <a:off x="2981700" y="1246470"/>
            <a:ext cx="3030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 </a:t>
            </a:r>
            <a:endParaRPr sz="600" b="0" i="0" u="none" strike="noStrike" cap="none" dirty="0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>
            <a:extLst>
              <a:ext uri="{FF2B5EF4-FFF2-40B4-BE49-F238E27FC236}">
                <a16:creationId xmlns:a16="http://schemas.microsoft.com/office/drawing/2014/main" id="{A0E4A936-C7F1-AE74-DD97-A080DFF7BABB}"/>
              </a:ext>
            </a:extLst>
          </p:cNvPr>
          <p:cNvSpPr txBox="1"/>
          <p:nvPr/>
        </p:nvSpPr>
        <p:spPr>
          <a:xfrm>
            <a:off x="5469000" y="1280584"/>
            <a:ext cx="30306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ENGAGE </a:t>
            </a:r>
            <a:endParaRPr sz="600" b="0" i="0" u="none" strike="noStrike" cap="none" dirty="0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9">
            <a:extLst>
              <a:ext uri="{FF2B5EF4-FFF2-40B4-BE49-F238E27FC236}">
                <a16:creationId xmlns:a16="http://schemas.microsoft.com/office/drawing/2014/main" id="{A725B97A-3398-52DE-4720-1F8B85237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0728" y="1979871"/>
            <a:ext cx="1559296" cy="62743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2" name="Google Shape;142;p9">
            <a:extLst>
              <a:ext uri="{FF2B5EF4-FFF2-40B4-BE49-F238E27FC236}">
                <a16:creationId xmlns:a16="http://schemas.microsoft.com/office/drawing/2014/main" id="{D2FB9261-019B-EB0F-B8E4-B029C67FF6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  <p:sp>
        <p:nvSpPr>
          <p:cNvPr id="143" name="Google Shape;143;p9">
            <a:extLst>
              <a:ext uri="{FF2B5EF4-FFF2-40B4-BE49-F238E27FC236}">
                <a16:creationId xmlns:a16="http://schemas.microsoft.com/office/drawing/2014/main" id="{834DFA37-59F3-3AEF-F3B9-38E865293A7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88529"/>
            <a:ext cx="91440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44" name="Google Shape;144;p9">
            <a:extLst>
              <a:ext uri="{FF2B5EF4-FFF2-40B4-BE49-F238E27FC236}">
                <a16:creationId xmlns:a16="http://schemas.microsoft.com/office/drawing/2014/main" id="{76419E27-70E0-4728-80A0-08F2C96F6CA2}"/>
              </a:ext>
            </a:extLst>
          </p:cNvPr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45" name="Google Shape;145;p9">
            <a:extLst>
              <a:ext uri="{FF2B5EF4-FFF2-40B4-BE49-F238E27FC236}">
                <a16:creationId xmlns:a16="http://schemas.microsoft.com/office/drawing/2014/main" id="{884B923F-E7AA-A3A4-2D97-E75ACBC6D8D6}"/>
              </a:ext>
            </a:extLst>
          </p:cNvPr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xAI-Guided strategies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2D3EBB-8E3E-F372-7E4F-D6F228DB1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289" y="1686127"/>
            <a:ext cx="736791" cy="1503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EE8BC-E4EE-E3EC-277F-1F099DB94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219" y="1721759"/>
            <a:ext cx="703105" cy="1785952"/>
          </a:xfrm>
          <a:prstGeom prst="rect">
            <a:avLst/>
          </a:prstGeom>
        </p:spPr>
      </p:pic>
      <p:sp>
        <p:nvSpPr>
          <p:cNvPr id="2" name="Google Shape;156;p10">
            <a:extLst>
              <a:ext uri="{FF2B5EF4-FFF2-40B4-BE49-F238E27FC236}">
                <a16:creationId xmlns:a16="http://schemas.microsoft.com/office/drawing/2014/main" id="{ED811134-FF49-75F0-61C2-667A958B65C0}"/>
              </a:ext>
            </a:extLst>
          </p:cNvPr>
          <p:cNvSpPr txBox="1"/>
          <p:nvPr/>
        </p:nvSpPr>
        <p:spPr>
          <a:xfrm>
            <a:off x="762000" y="350771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7;p10">
            <a:extLst>
              <a:ext uri="{FF2B5EF4-FFF2-40B4-BE49-F238E27FC236}">
                <a16:creationId xmlns:a16="http://schemas.microsoft.com/office/drawing/2014/main" id="{D5D2AA92-A393-F27C-2854-28064ECA5688}"/>
              </a:ext>
            </a:extLst>
          </p:cNvPr>
          <p:cNvSpPr txBox="1"/>
          <p:nvPr/>
        </p:nvSpPr>
        <p:spPr>
          <a:xfrm>
            <a:off x="4191000" y="3507710"/>
            <a:ext cx="411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58;p10">
            <a:extLst>
              <a:ext uri="{FF2B5EF4-FFF2-40B4-BE49-F238E27FC236}">
                <a16:creationId xmlns:a16="http://schemas.microsoft.com/office/drawing/2014/main" id="{E7C7A242-5089-8D76-5672-4393BE092A43}"/>
              </a:ext>
            </a:extLst>
          </p:cNvPr>
          <p:cNvSpPr txBox="1"/>
          <p:nvPr/>
        </p:nvSpPr>
        <p:spPr>
          <a:xfrm>
            <a:off x="762000" y="3939835"/>
            <a:ext cx="42672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Reduces Generalization error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EXPASS mitigates oversmoothing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MATE enhances explanation quality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" name="Google Shape;159;p10">
            <a:extLst>
              <a:ext uri="{FF2B5EF4-FFF2-40B4-BE49-F238E27FC236}">
                <a16:creationId xmlns:a16="http://schemas.microsoft.com/office/drawing/2014/main" id="{C28B5DE1-5E0D-5A4F-D271-AE5575BE690B}"/>
              </a:ext>
            </a:extLst>
          </p:cNvPr>
          <p:cNvSpPr txBox="1"/>
          <p:nvPr/>
        </p:nvSpPr>
        <p:spPr>
          <a:xfrm>
            <a:off x="4116000" y="3939835"/>
            <a:ext cx="42672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All of them are time consuming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6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ENGAGE requires a lot of parameters</a:t>
            </a: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90824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/>
        </p:nvSpPr>
        <p:spPr>
          <a:xfrm>
            <a:off x="850650" y="1962300"/>
            <a:ext cx="74427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Can we define a </a:t>
            </a:r>
            <a:r>
              <a:rPr lang="it" sz="2800" b="0" i="0" u="none" strike="noStrike" cap="none" dirty="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principled manner</a:t>
            </a: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to decide which information should be </a:t>
            </a:r>
            <a:endParaRPr sz="2800" b="0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0" i="0" u="none" strike="noStrike" cap="none" dirty="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discarded during training</a:t>
            </a:r>
            <a:r>
              <a:rPr lang="it" sz="2800" b="0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?</a:t>
            </a:r>
            <a:endParaRPr sz="600" b="0" i="0" u="none" strike="noStrike" cap="none" dirty="0">
              <a:solidFill>
                <a:srgbClr val="00BBD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Dropping in Graph Neural Networks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71" name="Google Shape;171;p11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72" name="Google Shape;172;p11"/>
          <p:cNvSpPr txBox="1"/>
          <p:nvPr/>
        </p:nvSpPr>
        <p:spPr>
          <a:xfrm>
            <a:off x="2438400" y="819750"/>
            <a:ext cx="42672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to discard?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039600"/>
            <a:ext cx="8384402" cy="16738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80" name="Google Shape;180;p12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81" name="Google Shape;181;p12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Intuition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0" y="1429350"/>
            <a:ext cx="91905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it" sz="17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Given a transductive binary node classification task</a:t>
            </a:r>
            <a:endParaRPr sz="1700" b="0" i="0" u="none" strike="noStrike" cap="none">
              <a:solidFill>
                <a:srgbClr val="12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8975" y="1399450"/>
            <a:ext cx="5066051" cy="27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90" name="Google Shape;190;p13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191" name="Google Shape;191;p13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High-Level view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1226" y="1968240"/>
            <a:ext cx="3458932" cy="179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3738" y="1482625"/>
            <a:ext cx="2672234" cy="143317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4"/>
          <p:cNvSpPr/>
          <p:nvPr/>
        </p:nvSpPr>
        <p:spPr>
          <a:xfrm>
            <a:off x="3211204" y="2915803"/>
            <a:ext cx="3459000" cy="8430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995971" y="1968240"/>
            <a:ext cx="1674300" cy="13662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  <p:sp>
        <p:nvSpPr>
          <p:cNvPr id="201" name="Google Shape;201;p14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02" name="Google Shape;202;p14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03" name="Google Shape;203;p14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1 - Subsampling over-confident nodes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04" name="Google Shape;20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1025" y="4152799"/>
            <a:ext cx="1699200" cy="2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4"/>
          <p:cNvSpPr txBox="1"/>
          <p:nvPr/>
        </p:nvSpPr>
        <p:spPr>
          <a:xfrm>
            <a:off x="-22050" y="3758900"/>
            <a:ext cx="91905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it" sz="17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1 - Assess confidence of all the nodes (transductive setting)</a:t>
            </a: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  <p:sp>
        <p:nvSpPr>
          <p:cNvPr id="211" name="Google Shape;211;p15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22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12" name="Google Shape;212;p15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13" name="Google Shape;213;p15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2 - From xAI-scores to Dropping probabilities 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14" name="Google Shape;21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8912" y="2075723"/>
            <a:ext cx="2982556" cy="163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6762" y="1399450"/>
            <a:ext cx="2675925" cy="152714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/>
          <p:nvPr/>
        </p:nvSpPr>
        <p:spPr>
          <a:xfrm>
            <a:off x="2388950" y="2904500"/>
            <a:ext cx="2982600" cy="7926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2388925" y="2075725"/>
            <a:ext cx="1537800" cy="7926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69675" y="4093775"/>
            <a:ext cx="120465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5"/>
          <p:cNvSpPr txBox="1"/>
          <p:nvPr/>
        </p:nvSpPr>
        <p:spPr>
          <a:xfrm>
            <a:off x="-22050" y="3758900"/>
            <a:ext cx="9190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2.1- Generate explanation for the over-confident nodes </a:t>
            </a: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0112" y="2073536"/>
            <a:ext cx="2982556" cy="163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7962" y="1397263"/>
            <a:ext cx="2675925" cy="152714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6"/>
          <p:cNvSpPr/>
          <p:nvPr/>
        </p:nvSpPr>
        <p:spPr>
          <a:xfrm>
            <a:off x="2390125" y="2894575"/>
            <a:ext cx="2866800" cy="7926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2390125" y="2073525"/>
            <a:ext cx="1537800" cy="8508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30" name="Google Shape;230;p16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31" name="Google Shape;231;p16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2 - From xAI-scores to Dropping probabilities 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-22050" y="3758900"/>
            <a:ext cx="91905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it" sz="17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2.2 - Assess explanation via KL-Sufficiency</a:t>
            </a: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33" name="Google Shape;23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87975" y="3962225"/>
            <a:ext cx="2744289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17</a:t>
            </a:fld>
            <a:endParaRPr/>
          </a:p>
        </p:txBody>
      </p:sp>
      <p:sp>
        <p:nvSpPr>
          <p:cNvPr id="239" name="Google Shape;239;p17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40" name="Google Shape;240;p17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41" name="Google Shape;241;p17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2 - From xAI-scores to Dropping probabilities 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42" name="Google Shape;2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0112" y="2075711"/>
            <a:ext cx="2982556" cy="163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7962" y="1399438"/>
            <a:ext cx="2675925" cy="152714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7"/>
          <p:cNvSpPr/>
          <p:nvPr/>
        </p:nvSpPr>
        <p:spPr>
          <a:xfrm>
            <a:off x="2390125" y="2029700"/>
            <a:ext cx="1537800" cy="8970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-23250" y="3720500"/>
            <a:ext cx="9190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7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2.3- Cast explanation scores into probabilities (e.g. Box-Cox transformation)</a:t>
            </a: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46" name="Google Shape;24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36150" y="4029325"/>
            <a:ext cx="1921691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7"/>
          <p:cNvSpPr/>
          <p:nvPr/>
        </p:nvSpPr>
        <p:spPr>
          <a:xfrm>
            <a:off x="2390125" y="2926575"/>
            <a:ext cx="2982600" cy="7926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17"/>
          <p:cNvCxnSpPr/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249" name="Google Shape;249;p17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Appendix L (Table 9) in the paper for additional ablations about hyperparameters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0508" y="1482304"/>
            <a:ext cx="2991403" cy="159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8"/>
          <p:cNvPicPr preferRelativeResize="0"/>
          <p:nvPr/>
        </p:nvPicPr>
        <p:blipFill rotWithShape="1">
          <a:blip r:embed="rId4">
            <a:alphaModFix/>
          </a:blip>
          <a:srcRect l="4537" r="7703" b="24000"/>
          <a:stretch/>
        </p:blipFill>
        <p:spPr>
          <a:xfrm>
            <a:off x="1991100" y="2307850"/>
            <a:ext cx="4928150" cy="12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18</a:t>
            </a:fld>
            <a:endParaRPr/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58" name="Google Shape;258;p18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59" name="Google Shape;259;p18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Step 3 - Dropping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3100425" y="1482300"/>
            <a:ext cx="2991300" cy="82560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-23250" y="3720500"/>
            <a:ext cx="91905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it" sz="17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3- Bias dropping probability of over-confident nodes </a:t>
            </a: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it" sz="17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while leaving unaltered the dropping probability of the other nodes</a:t>
            </a: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62" name="Google Shape;26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27922" y="4273250"/>
            <a:ext cx="1938175" cy="2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9"/>
          <p:cNvPicPr preferRelativeResize="0"/>
          <p:nvPr/>
        </p:nvPicPr>
        <p:blipFill rotWithShape="1">
          <a:blip r:embed="rId3">
            <a:alphaModFix/>
          </a:blip>
          <a:srcRect t="1343" b="1970"/>
          <a:stretch/>
        </p:blipFill>
        <p:spPr>
          <a:xfrm>
            <a:off x="1231663" y="1490288"/>
            <a:ext cx="6680685" cy="2791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8" name="Google Shape;26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1268" y="2146192"/>
            <a:ext cx="1071093" cy="213570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19</a:t>
            </a:fld>
            <a:endParaRPr/>
          </a:p>
        </p:txBody>
      </p:sp>
      <p:sp>
        <p:nvSpPr>
          <p:cNvPr id="270" name="Google Shape;270;p19"/>
          <p:cNvSpPr txBox="1">
            <a:spLocks noGrp="1"/>
          </p:cNvSpPr>
          <p:nvPr>
            <p:ph type="subTitle" idx="1"/>
          </p:nvPr>
        </p:nvSpPr>
        <p:spPr>
          <a:xfrm>
            <a:off x="0" y="2361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71" name="Google Shape;271;p19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72" name="Google Shape;272;p19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Algorithm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73" name="Google Shape;273;p19"/>
          <p:cNvCxnSpPr/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274" name="Google Shape;274;p19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Appendix F (Figure 6 and Figure 7) in the paper for detailed discussion about hyperparameters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  <p:sp>
        <p:nvSpPr>
          <p:cNvPr id="281" name="Google Shape;281;p20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82" name="Google Shape;282;p20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83" name="Google Shape;283;p20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 and Time complexity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84" name="Google Shape;284;p20"/>
          <p:cNvCxnSpPr>
            <a:endCxn id="280" idx="0"/>
          </p:cNvCxnSpPr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285" name="Google Shape;285;p20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Table 1,4,5, and 8 in the paper for additional architectures, complexity analyses and datasets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4" name="Picture 3" descr="A graph with blue and black text&#10;&#10;Description automatically generated">
            <a:extLst>
              <a:ext uri="{FF2B5EF4-FFF2-40B4-BE49-F238E27FC236}">
                <a16:creationId xmlns:a16="http://schemas.microsoft.com/office/drawing/2014/main" id="{847689DB-FFB7-B72D-9843-DAC43C966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31382"/>
            <a:ext cx="8546400" cy="2848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040" y="1281651"/>
            <a:ext cx="7614060" cy="221322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1" name="Google Shape;29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294" name="Google Shape;294;p21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Explanation quality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95" name="Google Shape;29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  <p:cxnSp>
        <p:nvCxnSpPr>
          <p:cNvPr id="296" name="Google Shape;296;p21"/>
          <p:cNvCxnSpPr>
            <a:endCxn id="295" idx="0"/>
          </p:cNvCxnSpPr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297" name="Google Shape;297;p21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Table 2 in the paper for additional metrics, architectures, and datasets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98" name="Google Shape;29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950" y="3784975"/>
            <a:ext cx="2744289" cy="5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41575" y="3883073"/>
            <a:ext cx="3278575" cy="4857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>
            <a:off x="1066800" y="3500900"/>
            <a:ext cx="2611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KL-sufficiency</a:t>
            </a:r>
            <a:endParaRPr sz="16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953000" y="3500900"/>
            <a:ext cx="2611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KL-necessity</a:t>
            </a:r>
            <a:endParaRPr sz="16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22</a:t>
            </a:fld>
            <a:endParaRPr/>
          </a:p>
        </p:txBody>
      </p:sp>
      <p:sp>
        <p:nvSpPr>
          <p:cNvPr id="308" name="Google Shape;308;p22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09" name="Google Shape;309;p22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310" name="Google Shape;310;p22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 dirty="0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 as a general framework: Across Explainers</a:t>
            </a:r>
            <a:endParaRPr sz="600" b="1" i="0" u="none" strike="noStrike" cap="none" dirty="0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11" name="Google Shape;311;p22"/>
          <p:cNvCxnSpPr/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312" name="Google Shape;312;p22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Appendix C in the paper for additional details about Saliency Map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 descr="A graph of blue bars&#10;&#10;Description automatically generated with medium confidence">
            <a:extLst>
              <a:ext uri="{FF2B5EF4-FFF2-40B4-BE49-F238E27FC236}">
                <a16:creationId xmlns:a16="http://schemas.microsoft.com/office/drawing/2014/main" id="{2B220055-12BC-21F3-1F87-FF0FAE80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50" y="1576249"/>
            <a:ext cx="8753100" cy="20840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23</a:t>
            </a:fld>
            <a:endParaRPr/>
          </a:p>
        </p:txBody>
      </p:sp>
      <p:sp>
        <p:nvSpPr>
          <p:cNvPr id="319" name="Google Shape;319;p23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20" name="Google Shape;320;p23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321" name="Google Shape;321;p23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 as a general framework: Across Tasks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23" name="Google Shape;323;p23"/>
          <p:cNvCxnSpPr/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324" name="Google Shape;324;p23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Table 3, and 4 in the paper for additional datasets, and architectures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26" name="Google Shape;32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2238" y="4000100"/>
            <a:ext cx="4169520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3114000" y="3731525"/>
            <a:ext cx="26112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0" i="0" u="none" strike="noStrike" cap="none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Sufficiency Accuracy</a:t>
            </a:r>
            <a:endParaRPr sz="1600" b="0" i="0" u="none" strike="noStrike" cap="none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" name="Picture 2" descr="A graph with blue and black lines&#10;&#10;Description automatically generated">
            <a:extLst>
              <a:ext uri="{FF2B5EF4-FFF2-40B4-BE49-F238E27FC236}">
                <a16:creationId xmlns:a16="http://schemas.microsoft.com/office/drawing/2014/main" id="{EA5A4381-E4DA-6867-B537-A8786A9D8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1246950"/>
            <a:ext cx="7528560" cy="25095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24</a:t>
            </a:fld>
            <a:endParaRPr/>
          </a:p>
        </p:txBody>
      </p:sp>
      <p:pic>
        <p:nvPicPr>
          <p:cNvPr id="333" name="Google Shape;33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1190" y="1434163"/>
            <a:ext cx="5131612" cy="258333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334" name="Google Shape;334;p24"/>
          <p:cNvCxnSpPr/>
          <p:nvPr/>
        </p:nvCxnSpPr>
        <p:spPr>
          <a:xfrm rot="10800000" flipH="1">
            <a:off x="200408" y="4663217"/>
            <a:ext cx="8546400" cy="54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cxnSp>
      <p:sp>
        <p:nvSpPr>
          <p:cNvPr id="335" name="Google Shape;335;p24"/>
          <p:cNvSpPr txBox="1"/>
          <p:nvPr/>
        </p:nvSpPr>
        <p:spPr>
          <a:xfrm>
            <a:off x="200400" y="4422925"/>
            <a:ext cx="8114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" sz="1000" b="0" i="0" u="none" strike="noStrike" cap="none">
                <a:solidFill>
                  <a:srgbClr val="12182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Please refer to Appendix F (Figure 7 and 8) in the paper for additional ablations about hyperparameters</a:t>
            </a:r>
            <a:endParaRPr sz="1000" b="0" i="0" u="none" strike="noStrike" cap="none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36" name="Google Shape;336;p24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Further consideration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37" name="Google Shape;337;p24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338" name="Google Shape;338;p24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does xAI-Drop outperform competitors?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375225" y="1847275"/>
            <a:ext cx="13833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1" i="0" u="none" strike="noStrike" cap="none" dirty="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xAI-Drop</a:t>
            </a:r>
            <a:endParaRPr sz="1600" b="1" i="0" u="none" strike="noStrike" cap="none" dirty="0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40" name="Google Shape;340;p24"/>
          <p:cNvSpPr txBox="1"/>
          <p:nvPr/>
        </p:nvSpPr>
        <p:spPr>
          <a:xfrm>
            <a:off x="375225" y="3142675"/>
            <a:ext cx="13833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" sz="1600" b="1" i="0" u="none" strike="noStrike" cap="none" dirty="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DropNode</a:t>
            </a:r>
            <a:endParaRPr sz="1600" b="1" i="0" u="none" strike="noStrike" cap="none" dirty="0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25</a:t>
            </a:fld>
            <a:endParaRPr/>
          </a:p>
        </p:txBody>
      </p:sp>
      <p:sp>
        <p:nvSpPr>
          <p:cNvPr id="346" name="Google Shape;346;p25"/>
          <p:cNvSpPr txBox="1">
            <a:spLocks noGrp="1"/>
          </p:cNvSpPr>
          <p:nvPr>
            <p:ph type="subTitle" idx="1"/>
          </p:nvPr>
        </p:nvSpPr>
        <p:spPr>
          <a:xfrm>
            <a:off x="304800" y="236150"/>
            <a:ext cx="83844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it" sz="29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Further consideration</a:t>
            </a:r>
            <a:endParaRPr sz="2900" b="1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47" name="Google Shape;347;p25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29411"/>
              </a:srgbClr>
            </a:outerShdw>
          </a:effectLst>
        </p:spPr>
      </p:cxnSp>
      <p:sp>
        <p:nvSpPr>
          <p:cNvPr id="348" name="Google Shape;348;p25"/>
          <p:cNvSpPr txBox="1"/>
          <p:nvPr/>
        </p:nvSpPr>
        <p:spPr>
          <a:xfrm>
            <a:off x="0" y="8197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it" sz="2800" b="1" i="0" u="none" strike="noStrike" cap="none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 xAI-Drop just a starting point?</a:t>
            </a:r>
            <a:endParaRPr sz="600" b="1" i="0" u="none" strike="noStrike" cap="none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49" name="Google Shape;349;p25"/>
          <p:cNvSpPr txBox="1">
            <a:spLocks noGrp="1"/>
          </p:cNvSpPr>
          <p:nvPr>
            <p:ph type="subTitle" idx="1"/>
          </p:nvPr>
        </p:nvSpPr>
        <p:spPr>
          <a:xfrm>
            <a:off x="-18075" y="2327850"/>
            <a:ext cx="914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260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Can the </a:t>
            </a:r>
            <a:r>
              <a:rPr lang="it" sz="2600" b="1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combination of confidence and explainability</a:t>
            </a:r>
            <a:r>
              <a:rPr lang="it" sz="260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sz="2600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2600">
                <a:solidFill>
                  <a:srgbClr val="23719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have additional applications?</a:t>
            </a:r>
            <a:endParaRPr sz="2600">
              <a:solidFill>
                <a:srgbClr val="237194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600">
              <a:solidFill>
                <a:srgbClr val="12182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a4402e571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26</a:t>
            </a:fld>
            <a:endParaRPr/>
          </a:p>
        </p:txBody>
      </p:sp>
      <p:cxnSp>
        <p:nvCxnSpPr>
          <p:cNvPr id="355" name="Google Shape;355;g31a4402e571_0_0"/>
          <p:cNvCxnSpPr/>
          <p:nvPr/>
        </p:nvCxnSpPr>
        <p:spPr>
          <a:xfrm rot="10800000" flipH="1">
            <a:off x="304800" y="748250"/>
            <a:ext cx="8384400" cy="21300"/>
          </a:xfrm>
          <a:prstGeom prst="straightConnector1">
            <a:avLst/>
          </a:prstGeom>
          <a:noFill/>
          <a:ln w="19050" cap="flat" cmpd="sng">
            <a:solidFill>
              <a:srgbClr val="1218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0000"/>
              </a:srgbClr>
            </a:outerShdw>
          </a:effectLst>
        </p:spPr>
      </p:cxnSp>
      <p:sp>
        <p:nvSpPr>
          <p:cNvPr id="356" name="Google Shape;356;g31a4402e571_0_0"/>
          <p:cNvSpPr txBox="1"/>
          <p:nvPr/>
        </p:nvSpPr>
        <p:spPr>
          <a:xfrm>
            <a:off x="0" y="2496150"/>
            <a:ext cx="91440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 b="1">
                <a:solidFill>
                  <a:srgbClr val="00BBD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 for the attention</a:t>
            </a:r>
            <a:endParaRPr sz="600" b="1">
              <a:solidFill>
                <a:srgbClr val="00BBD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595</Words>
  <Application>Microsoft Office PowerPoint</Application>
  <PresentationFormat>On-screen Show (16:9)</PresentationFormat>
  <Paragraphs>150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Playfair Display</vt:lpstr>
      <vt:lpstr>Simple Light</vt:lpstr>
      <vt:lpstr>xAI-Drop: Don’t Use What You Cannot Explain</vt:lpstr>
      <vt:lpstr>Who I am</vt:lpstr>
      <vt:lpstr>Index </vt:lpstr>
      <vt:lpstr>Motivation</vt:lpstr>
      <vt:lpstr>Dropping in Graph Neural Networks</vt:lpstr>
      <vt:lpstr>Dropping in Graph Neural Networks</vt:lpstr>
      <vt:lpstr>Dropping in Graph Neural Networks</vt:lpstr>
      <vt:lpstr>Dropping in Graph Neural Networks</vt:lpstr>
      <vt:lpstr>Dropping in Graph Neural Networks</vt:lpstr>
      <vt:lpstr>Dropping in Graph Neural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 Luca, Vincenzo Marco</cp:lastModifiedBy>
  <cp:revision>3</cp:revision>
  <dcterms:modified xsi:type="dcterms:W3CDTF">2024-11-29T03:39:03Z</dcterms:modified>
</cp:coreProperties>
</file>